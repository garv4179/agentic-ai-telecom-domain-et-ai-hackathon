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TELCO AUTONOMOUS RESOLVE-X</a:t>
            </a:r>
            <a:endParaRPr sz="3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8096" y="193852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B7DCED"/>
                </a:solidFill>
                <a:latin typeface="Aptos"/>
              </a:rPr>
              <a:t>Autonomous Closed-Loop Telecom Operations Agent</a:t>
            </a:r>
            <a:endParaRPr sz="2000" b="0">
              <a:solidFill>
                <a:srgbClr val="B7DCED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8096" y="2788920"/>
            <a:ext cx="10241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Detect → Correlate → Reason → Plan → Act → Validate → Re-plan</a:t>
            </a:r>
            <a:endParaRPr sz="2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8096" y="507492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D2E1EB"/>
                </a:solidFill>
                <a:latin typeface="Aptos"/>
              </a:rPr>
              <a:t>Multi-agent AI prototype for autonomous telecom incident resolution</a:t>
            </a:r>
            <a:br>
              <a:rPr sz="1300" b="0">
                <a:solidFill>
                  <a:srgbClr val="D2E1EB"/>
                </a:solidFill>
                <a:latin typeface="Aptos"/>
              </a:rPr>
            </a:br>
            <a:r>
              <a:t>Target: reduce manual triage and accelerate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1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B233A"/>
                </a:solidFill>
                <a:latin typeface="Aptos"/>
              </a:rPr>
              <a:t>The Problem</a:t>
            </a:r>
            <a:endParaRPr sz="2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737D"/>
                </a:solidFill>
                <a:latin typeface="Aptos"/>
              </a:rPr>
              <a:t>Telecom incidents are detected by many signals but still require fragmented human coordination.</a:t>
            </a:r>
            <a:endParaRPr sz="12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27432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545336"/>
            <a:ext cx="24140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1. Signal overload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1477" y="1929384"/>
            <a:ext cx="2573020" cy="4140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7313A"/>
                </a:solidFill>
                <a:latin typeface="Aptos"/>
              </a:rPr>
              <a:t>Alarms, KPIs, service logs and symptoms </a:t>
            </a:r>
            <a:br>
              <a:rPr sz="1000" b="0">
                <a:solidFill>
                  <a:srgbClr val="27313A"/>
                </a:solidFill>
                <a:latin typeface="Aptos"/>
              </a:rPr>
            </a:br>
            <a:r>
              <a:rPr sz="1000" b="0">
                <a:solidFill>
                  <a:srgbClr val="27313A"/>
                </a:solidFill>
                <a:latin typeface="Aptos"/>
              </a:rPr>
              <a:t>arrive from</a:t>
            </a:r>
            <a:r>
              <a:rPr sz="1100" b="0">
                <a:solidFill>
                  <a:srgbClr val="27313A"/>
                </a:solidFill>
                <a:latin typeface="Aptos"/>
              </a:rPr>
              <a:t> different systems.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520440" y="1417320"/>
            <a:ext cx="27432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85032" y="1545336"/>
            <a:ext cx="24140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2. Slow diagnosis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85032" y="1929384"/>
            <a:ext cx="2104390" cy="5988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Engineers correlate symptoms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 sz="1100" b="0">
                <a:solidFill>
                  <a:srgbClr val="27313A"/>
                </a:solidFill>
                <a:latin typeface="Aptos"/>
              </a:rPr>
              <a:t>identify root cause and search 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 sz="1100" b="0">
                <a:solidFill>
                  <a:srgbClr val="27313A"/>
                </a:solidFill>
                <a:latin typeface="Aptos"/>
              </a:rPr>
              <a:t>runbooks manually.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46520" y="1417320"/>
            <a:ext cx="24231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1545336"/>
            <a:ext cx="20939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3. Manual action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11112" y="1929384"/>
            <a:ext cx="1906270" cy="5988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Remediation often requires 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 sz="1100" b="0">
                <a:solidFill>
                  <a:srgbClr val="27313A"/>
                </a:solidFill>
                <a:latin typeface="Aptos"/>
              </a:rPr>
              <a:t>hand-offs across network 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 sz="1100" b="0">
                <a:solidFill>
                  <a:srgbClr val="27313A"/>
                </a:solidFill>
                <a:latin typeface="Aptos"/>
              </a:rPr>
              <a:t>and service teams.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052560" y="1417320"/>
            <a:ext cx="25146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7152" y="1545336"/>
            <a:ext cx="21854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4. Weak feedback loop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17152" y="1929384"/>
            <a:ext cx="1829435" cy="5988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Recovery is not always 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 sz="1100" b="0">
                <a:solidFill>
                  <a:srgbClr val="27313A"/>
                </a:solidFill>
                <a:latin typeface="Aptos"/>
              </a:rPr>
              <a:t>automatically re-validated 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 sz="1100" b="0">
                <a:solidFill>
                  <a:srgbClr val="27313A"/>
                </a:solidFill>
                <a:latin typeface="Aptos"/>
              </a:rPr>
              <a:t>after the first action.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71805" y="3977639"/>
            <a:ext cx="1112647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B233A"/>
                </a:solidFill>
                <a:latin typeface="Aptos"/>
              </a:rPr>
              <a:t>Resolve-X turns the incident lifecycle into an autonomous decision loop with evidence, action tools, validation and audit memory.</a:t>
            </a:r>
            <a:endParaRPr sz="14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2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B233A"/>
                </a:solidFill>
                <a:latin typeface="Aptos"/>
              </a:rPr>
              <a:t>Our Solution</a:t>
            </a:r>
            <a:endParaRPr sz="2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737D"/>
                </a:solidFill>
                <a:latin typeface="Aptos"/>
              </a:rPr>
              <a:t>An agentic telecom operations system that works toward an outcome, not just an answer.</a:t>
            </a:r>
            <a:endParaRPr sz="12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508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591056"/>
            <a:ext cx="11795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Observe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" y="1975104"/>
            <a:ext cx="1179576" cy="12070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Telemetry + events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057400" y="1463040"/>
            <a:ext cx="1508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21992" y="1591056"/>
            <a:ext cx="11795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Understand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221992" y="1975104"/>
            <a:ext cx="1179576" cy="12070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Correlate signals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703320" y="1463040"/>
            <a:ext cx="1508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7911" y="1591056"/>
            <a:ext cx="11795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B48232"/>
                </a:solidFill>
                <a:latin typeface="Aptos"/>
              </a:rPr>
              <a:t>Reason</a:t>
            </a:r>
            <a:endParaRPr sz="1400" b="1">
              <a:solidFill>
                <a:srgbClr val="B4823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67911" y="1975104"/>
            <a:ext cx="1179576" cy="12070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RCA + knowledge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349240" y="1463040"/>
            <a:ext cx="1508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13831" y="1591056"/>
            <a:ext cx="11795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Decide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513831" y="1975104"/>
            <a:ext cx="1179576" cy="12070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Choose playbook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995159" y="1463040"/>
            <a:ext cx="1508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9751" y="1591056"/>
            <a:ext cx="11795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D3838"/>
                </a:solidFill>
                <a:latin typeface="Aptos"/>
              </a:rPr>
              <a:t>Act</a:t>
            </a:r>
            <a:endParaRPr sz="1400" b="1">
              <a:solidFill>
                <a:srgbClr val="AD3838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59751" y="1975104"/>
            <a:ext cx="1179576" cy="12070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Execute tool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641080" y="1463040"/>
            <a:ext cx="1508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5672" y="1591056"/>
            <a:ext cx="11795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388048"/>
                </a:solidFill>
                <a:latin typeface="Aptos"/>
              </a:rPr>
              <a:t>Verify</a:t>
            </a:r>
            <a:endParaRPr sz="1400" b="1">
              <a:solidFill>
                <a:srgbClr val="388048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805672" y="1975104"/>
            <a:ext cx="1179576" cy="12070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Check KPIs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0287000" y="1463040"/>
            <a:ext cx="1508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51592" y="1591056"/>
            <a:ext cx="11795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Adapt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451592" y="1975104"/>
            <a:ext cx="1179576" cy="12070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Re-plan if needed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9615" y="3977639"/>
            <a:ext cx="1061085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B233A"/>
                </a:solidFill>
                <a:latin typeface="Aptos"/>
              </a:rPr>
              <a:t>Key differentiator: the system can continue operating after the first action. Validation feeds the next decision automatically.</a:t>
            </a:r>
            <a:endParaRPr sz="14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3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B233A"/>
                </a:solidFill>
                <a:latin typeface="Aptos"/>
              </a:rPr>
              <a:t>Multi-Agent Collaboration</a:t>
            </a:r>
            <a:endParaRPr sz="2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737D"/>
                </a:solidFill>
                <a:latin typeface="Aptos"/>
              </a:rPr>
              <a:t>Specialized agents each own a distinct decision responsibility.</a:t>
            </a:r>
            <a:endParaRPr sz="12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507492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453895"/>
            <a:ext cx="47457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Signal Monitoring Agent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392" y="1837943"/>
            <a:ext cx="4745736" cy="640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Detect anomaly and establish incident state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17920" y="1325880"/>
            <a:ext cx="507492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453895"/>
            <a:ext cx="47457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Incident Correlation Agent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82512" y="1837943"/>
            <a:ext cx="4745736" cy="640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Join KPI symptoms into one failure pattern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85800" y="2834639"/>
            <a:ext cx="507492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962656"/>
            <a:ext cx="47457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B48232"/>
                </a:solidFill>
                <a:latin typeface="Aptos"/>
              </a:rPr>
              <a:t>RCA + Knowledge Agent</a:t>
            </a:r>
            <a:endParaRPr sz="1400" b="1">
              <a:solidFill>
                <a:srgbClr val="B4823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50392" y="3346703"/>
            <a:ext cx="4745736" cy="640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Infer root cause and retrieve supporting evidence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17920" y="2834639"/>
            <a:ext cx="507492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2962656"/>
            <a:ext cx="47457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Customer Impact Agent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82512" y="3346703"/>
            <a:ext cx="4745736" cy="640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Estimate users / sessions at risk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507492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71416"/>
            <a:ext cx="47457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388048"/>
                </a:solidFill>
                <a:latin typeface="Aptos"/>
              </a:rPr>
              <a:t>Autonomous Decision Agent</a:t>
            </a:r>
            <a:endParaRPr sz="1400" b="1">
              <a:solidFill>
                <a:srgbClr val="388048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50392" y="4855464"/>
            <a:ext cx="4745736" cy="640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Select next action from approved playbooks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217920" y="4343400"/>
            <a:ext cx="507492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471416"/>
            <a:ext cx="47457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D3838"/>
                </a:solidFill>
                <a:latin typeface="Aptos"/>
              </a:rPr>
              <a:t>Recovery Validation Agent</a:t>
            </a:r>
            <a:endParaRPr sz="1400" b="1">
              <a:solidFill>
                <a:srgbClr val="AD3838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82512" y="4855464"/>
            <a:ext cx="4745736" cy="640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Verify KPI recovery and trigger re-plan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" y="598932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B233A"/>
                </a:solidFill>
                <a:latin typeface="Aptos"/>
              </a:rPr>
              <a:t>Shared state + audit trace connect all agents through the orchestrator.</a:t>
            </a:r>
            <a:endParaRPr sz="14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4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B233A"/>
                </a:solidFill>
                <a:latin typeface="Aptos"/>
              </a:rPr>
              <a:t>Technical Architecture</a:t>
            </a:r>
            <a:endParaRPr sz="2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737D"/>
                </a:solidFill>
                <a:latin typeface="Aptos"/>
              </a:rPr>
              <a:t>Closed-loop orchestration with a governed action layer.</a:t>
            </a:r>
            <a:endParaRPr sz="1200" b="0">
              <a:solidFill>
                <a:srgbClr val="69737D"/>
              </a:solidFill>
              <a:latin typeface="Aptos"/>
            </a:endParaRP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955" y="1234440"/>
            <a:ext cx="11289665" cy="20250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5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B233A"/>
                </a:solidFill>
                <a:latin typeface="Aptos"/>
              </a:rPr>
              <a:t>Working Prototype - Four Telecom Scenarios</a:t>
            </a:r>
            <a:endParaRPr sz="2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737D"/>
                </a:solidFill>
                <a:latin typeface="Aptos"/>
              </a:rPr>
              <a:t>The simulator provides repeatable incidents so judges can observe autonomous actions and validation.</a:t>
            </a:r>
            <a:endParaRPr sz="12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1828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362456"/>
            <a:ext cx="14996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INC-1001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58952" y="1746504"/>
            <a:ext cx="1499616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Backhaul congestion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560320" y="1234440"/>
            <a:ext cx="64922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24912" y="1362456"/>
            <a:ext cx="6163055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Autonomous flow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24912" y="1746504"/>
            <a:ext cx="616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Reroute → validate → fallback recovery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235440" y="1234440"/>
            <a:ext cx="2331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00032" y="1362456"/>
            <a:ext cx="20025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388048"/>
                </a:solidFill>
                <a:latin typeface="Aptos"/>
              </a:rPr>
              <a:t>Outcome</a:t>
            </a:r>
            <a:endParaRPr sz="1400" b="1">
              <a:solidFill>
                <a:srgbClr val="388048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400032" y="1746504"/>
            <a:ext cx="2002536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RESOLVED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94360" y="2441448"/>
            <a:ext cx="1828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569464"/>
            <a:ext cx="14996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INC-1002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58952" y="2953512"/>
            <a:ext cx="1499616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Packet-core saturation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560320" y="2441448"/>
            <a:ext cx="64922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24912" y="2569464"/>
            <a:ext cx="6163055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Autonomous flow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724912" y="2953512"/>
            <a:ext cx="616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Scale capacity → validate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235440" y="2441448"/>
            <a:ext cx="2331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0032" y="2569464"/>
            <a:ext cx="20025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388048"/>
                </a:solidFill>
                <a:latin typeface="Aptos"/>
              </a:rPr>
              <a:t>Outcome</a:t>
            </a:r>
            <a:endParaRPr sz="1400" b="1">
              <a:solidFill>
                <a:srgbClr val="388048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400032" y="2953512"/>
            <a:ext cx="2002536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RESOLVED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94360" y="3648456"/>
            <a:ext cx="1828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3776472"/>
            <a:ext cx="14996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INC-1003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58952" y="4160520"/>
            <a:ext cx="1499616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OTP gateway instability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560320" y="3648456"/>
            <a:ext cx="64922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24912" y="3776472"/>
            <a:ext cx="6163055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Autonomous flow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24912" y="4160520"/>
            <a:ext cx="616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Restart gateway → validate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9235440" y="3648456"/>
            <a:ext cx="2331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0032" y="3776472"/>
            <a:ext cx="20025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388048"/>
                </a:solidFill>
                <a:latin typeface="Aptos"/>
              </a:rPr>
              <a:t>Outcome</a:t>
            </a:r>
            <a:endParaRPr sz="1400" b="1">
              <a:solidFill>
                <a:srgbClr val="388048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400032" y="4160520"/>
            <a:ext cx="2002536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RESOLVED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94360" y="4855464"/>
            <a:ext cx="1828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983480"/>
            <a:ext cx="14996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INC-1004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8952" y="5367528"/>
            <a:ext cx="1499616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Cell overload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2560320" y="4855464"/>
            <a:ext cx="64922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24912" y="4983480"/>
            <a:ext cx="6163055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Autonomous flow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724912" y="5367528"/>
            <a:ext cx="616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Rebalance load → validate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9235440" y="4855464"/>
            <a:ext cx="2331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00032" y="4983480"/>
            <a:ext cx="20025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388048"/>
                </a:solidFill>
                <a:latin typeface="Aptos"/>
              </a:rPr>
              <a:t>Outcome</a:t>
            </a:r>
            <a:endParaRPr sz="1400" b="1">
              <a:solidFill>
                <a:srgbClr val="388048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400032" y="5367528"/>
            <a:ext cx="2002536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RESOLVED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31520" y="614476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388048"/>
                </a:solidFill>
                <a:latin typeface="Aptos"/>
              </a:rPr>
              <a:t>Smoke-tested locally: all four scenarios reached RESOLVED in the simulator.</a:t>
            </a:r>
            <a:endParaRPr sz="1300" b="1">
              <a:solidFill>
                <a:srgbClr val="388048"/>
              </a:solidFill>
              <a:latin typeface="Apto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6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B233A"/>
                </a:solidFill>
                <a:latin typeface="Aptos"/>
              </a:rPr>
              <a:t>Autonomy Without Human Intervention</a:t>
            </a:r>
            <a:endParaRPr sz="2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737D"/>
                </a:solidFill>
                <a:latin typeface="Aptos"/>
              </a:rPr>
              <a:t>Autonomy is constrained by explicit action guardrails rather than an unrestricted agent.</a:t>
            </a:r>
            <a:endParaRPr sz="12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2461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499616"/>
            <a:ext cx="29169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Autonomous decisions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4671" y="1883664"/>
            <a:ext cx="2840355" cy="845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• Choose remediation from an allow-list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t>• </a:t>
            </a:r>
            <a:r>
              <a:rPr sz="1000"/>
              <a:t>Execute the next action when validation fails</a:t>
            </a:r>
            <a:br>
              <a:rPr sz="1000"/>
            </a:br>
            <a:r>
              <a:rPr sz="1000"/>
              <a:t>• Maintain incident state</a:t>
            </a:r>
            <a:br>
              <a:rPr sz="1000"/>
            </a:br>
            <a:r>
              <a:rPr sz="1000"/>
              <a:t>• Close only after KPI checks pass</a:t>
            </a:r>
            <a:endParaRPr sz="1000"/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2461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499616"/>
            <a:ext cx="29169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D3838"/>
                </a:solidFill>
                <a:latin typeface="Aptos"/>
              </a:rPr>
              <a:t>Safety guardrails</a:t>
            </a:r>
            <a:endParaRPr sz="1400" b="1">
              <a:solidFill>
                <a:srgbClr val="AD3838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45152" y="1883664"/>
            <a:ext cx="2213610" cy="9988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• Approved playbook only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t>• </a:t>
            </a:r>
            <a:r>
              <a:rPr sz="1000"/>
              <a:t>No production credentials</a:t>
            </a:r>
            <a:br>
              <a:rPr sz="1000"/>
            </a:br>
            <a:r>
              <a:rPr sz="1000"/>
              <a:t>• Simulator tools in prototype</a:t>
            </a:r>
            <a:br>
              <a:rPr sz="1000"/>
            </a:br>
            <a:r>
              <a:rPr sz="1000"/>
              <a:t>• Deterministic validation thresholds</a:t>
            </a:r>
            <a:br>
              <a:rPr sz="1000"/>
            </a:br>
            <a:r>
              <a:rPr sz="1000"/>
              <a:t>• Full audit trail</a:t>
            </a:r>
            <a:endParaRPr sz="1000"/>
          </a:p>
        </p:txBody>
      </p:sp>
      <p:sp>
        <p:nvSpPr>
          <p:cNvPr id="11" name="Rounded Rectangle 10"/>
          <p:cNvSpPr/>
          <p:nvPr/>
        </p:nvSpPr>
        <p:spPr>
          <a:xfrm>
            <a:off x="8321040" y="1371600"/>
            <a:ext cx="3471545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499616"/>
            <a:ext cx="291693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B48232"/>
                </a:solidFill>
                <a:latin typeface="Aptos"/>
              </a:rPr>
              <a:t>Production path</a:t>
            </a:r>
            <a:endParaRPr sz="1400" b="1">
              <a:solidFill>
                <a:srgbClr val="B4823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85632" y="1883664"/>
            <a:ext cx="3322320" cy="845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• Replace simulator with governed OSS/BSS APIs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t>•</a:t>
            </a:r>
            <a:r>
              <a:rPr sz="1000"/>
              <a:t> Add policy engine + RBAC</a:t>
            </a:r>
            <a:br>
              <a:rPr sz="1000"/>
            </a:br>
            <a:r>
              <a:rPr sz="1000"/>
              <a:t>• Add observability and rollback</a:t>
            </a:r>
            <a:br>
              <a:rPr sz="1000"/>
            </a:br>
            <a:r>
              <a:rPr sz="1000"/>
              <a:t>• Route high-risk actions to enterprise approval policies</a:t>
            </a:r>
            <a:endParaRPr sz="1000"/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B233A"/>
                </a:solidFill>
                <a:latin typeface="Aptos"/>
              </a:rPr>
              <a:t>Hackathon demo: zero human intervention in the simulated recovery loop.</a:t>
            </a:r>
            <a:endParaRPr sz="1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7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B233A"/>
                </a:solidFill>
                <a:latin typeface="Aptos"/>
              </a:rPr>
              <a:t>Prototype Stack</a:t>
            </a:r>
            <a:endParaRPr sz="2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737D"/>
                </a:solidFill>
                <a:latin typeface="Aptos"/>
              </a:rPr>
              <a:t>Designed for a fast, reproducible hackathon build.</a:t>
            </a:r>
            <a:endParaRPr sz="12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02920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62456"/>
            <a:ext cx="47000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UI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96112" y="1746504"/>
            <a:ext cx="47000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Streamlit dashboard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17920" y="1234440"/>
            <a:ext cx="502920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362456"/>
            <a:ext cx="47000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Orchestration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82512" y="1746504"/>
            <a:ext cx="47000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Python agent coordinator + shared state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502920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551176"/>
            <a:ext cx="47000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B48232"/>
                </a:solidFill>
                <a:latin typeface="Aptos"/>
              </a:rPr>
              <a:t>Knowledge</a:t>
            </a:r>
            <a:endParaRPr sz="1400" b="1">
              <a:solidFill>
                <a:srgbClr val="B4823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96112" y="2935224"/>
            <a:ext cx="47000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Local telecom knowledge base + evidence retrieval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17920" y="2423160"/>
            <a:ext cx="502920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2551176"/>
            <a:ext cx="47000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AI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82512" y="2935224"/>
            <a:ext cx="47000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Optional OpenAI model for narrative summarisation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31520" y="3611880"/>
            <a:ext cx="502920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739896"/>
            <a:ext cx="47000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388048"/>
                </a:solidFill>
                <a:latin typeface="Aptos"/>
              </a:rPr>
              <a:t>Tools</a:t>
            </a:r>
            <a:endParaRPr sz="1400" b="1">
              <a:solidFill>
                <a:srgbClr val="388048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96112" y="4123944"/>
            <a:ext cx="47000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Simulated remediation APIs / action playbooks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217920" y="3611880"/>
            <a:ext cx="502920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3739896"/>
            <a:ext cx="47000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Memory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82512" y="4123944"/>
            <a:ext cx="47000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JSON incident audit memory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31520" y="4800600"/>
            <a:ext cx="502920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928616"/>
            <a:ext cx="47000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D3838"/>
                </a:solidFill>
                <a:latin typeface="Aptos"/>
              </a:rPr>
              <a:t>Deployment</a:t>
            </a:r>
            <a:endParaRPr sz="1400" b="1">
              <a:solidFill>
                <a:srgbClr val="AD3838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96112" y="5312664"/>
            <a:ext cx="47000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Local / container-ready pattern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8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B233A"/>
                </a:solidFill>
                <a:latin typeface="Aptos"/>
              </a:rPr>
              <a:t>Hackathon Evaluation Alignment</a:t>
            </a:r>
            <a:endParaRPr sz="2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737D"/>
                </a:solidFill>
                <a:latin typeface="Aptos"/>
              </a:rPr>
              <a:t>The attached ET AI guidance emphasises AI effectiveness, agentic capability, technical execution, impact, prototype quality and responsible AI.</a:t>
            </a:r>
            <a:endParaRPr sz="12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40680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25295"/>
            <a:ext cx="51114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Significance &amp; relevance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67512" y="1609344"/>
            <a:ext cx="5111496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Telecom operations / customer-impact problem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440680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225295"/>
            <a:ext cx="51114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Innovation &amp; originality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36792" y="1609344"/>
            <a:ext cx="5111496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Closed-loop multi-agent self-healing workflow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2240280"/>
            <a:ext cx="5440680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368296"/>
            <a:ext cx="51114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B48232"/>
                </a:solidFill>
                <a:latin typeface="Aptos"/>
              </a:rPr>
              <a:t>Effective use of AI</a:t>
            </a:r>
            <a:endParaRPr sz="1400" b="1">
              <a:solidFill>
                <a:srgbClr val="B4823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7512" y="2752344"/>
            <a:ext cx="5111496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RCA reasoning + evidence retrieval + agent planning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72200" y="2240280"/>
            <a:ext cx="5440680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368296"/>
            <a:ext cx="51114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Technical complexity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36792" y="2752344"/>
            <a:ext cx="5111496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Stateful orchestration, tools, validation and re-planning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" y="3383280"/>
            <a:ext cx="5440680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511296"/>
            <a:ext cx="51114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388048"/>
                </a:solidFill>
                <a:latin typeface="Aptos"/>
              </a:rPr>
              <a:t>Agentic autonomy</a:t>
            </a:r>
            <a:endParaRPr sz="1400" b="1">
              <a:solidFill>
                <a:srgbClr val="388048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7512" y="3895344"/>
            <a:ext cx="5111496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Reason → plan → act → recover from failure → close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172200" y="3383280"/>
            <a:ext cx="5440680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3511296"/>
            <a:ext cx="51114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D3838"/>
                </a:solidFill>
                <a:latin typeface="Aptos"/>
              </a:rPr>
              <a:t>Business impact</a:t>
            </a:r>
            <a:endParaRPr sz="1400" b="1">
              <a:solidFill>
                <a:srgbClr val="AD3838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36792" y="3895344"/>
            <a:ext cx="5111496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MTTR reduction potential and fewer manual hand-offs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02920" y="4526280"/>
            <a:ext cx="5440680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654296"/>
            <a:ext cx="51114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Prototype quality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7512" y="5038344"/>
            <a:ext cx="5111496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Interactive UI + 4 deterministic demo scenarios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172200" y="4526280"/>
            <a:ext cx="5440680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6792" y="4654296"/>
            <a:ext cx="51114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B233A"/>
                </a:solidFill>
                <a:latin typeface="Aptos"/>
              </a:rPr>
              <a:t>Responsible AI</a:t>
            </a:r>
            <a:endParaRPr sz="14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36792" y="5038344"/>
            <a:ext cx="5111496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Allow-listed tools, audit trail, no production access</a:t>
            </a:r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9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B233A"/>
                </a:solidFill>
                <a:latin typeface="Aptos"/>
              </a:rPr>
              <a:t>Business Impact &amp; Enterprise Potential</a:t>
            </a:r>
            <a:endParaRPr sz="2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737D"/>
                </a:solidFill>
                <a:latin typeface="Aptos"/>
              </a:rPr>
              <a:t>From incident detection to autonomous recovery in one operational loop.</a:t>
            </a:r>
            <a:endParaRPr sz="12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37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45336"/>
            <a:ext cx="30083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8891"/>
                </a:solidFill>
                <a:latin typeface="Aptos"/>
              </a:rPr>
              <a:t>Operational value</a:t>
            </a:r>
            <a:endParaRPr sz="14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392" y="1929384"/>
            <a:ext cx="3152140" cy="8915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Reduce manual triage and cross-team handoffs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 sz="1000"/>
              <a:t>Accelerate time from detection to corrective action</a:t>
            </a:r>
            <a:br>
              <a:rPr sz="1000"/>
            </a:br>
            <a:br>
              <a:rPr sz="1000"/>
            </a:br>
            <a:r>
              <a:rPr sz="1000"/>
              <a:t>Create a consistent, auditable recovery process</a:t>
            </a:r>
            <a:endParaRPr sz="1000"/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337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1545336"/>
            <a:ext cx="30083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Customer value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99431" y="1929384"/>
            <a:ext cx="2684145" cy="8915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Faster restoration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 sz="1000"/>
              <a:t>Proactive customer communication</a:t>
            </a:r>
            <a:br>
              <a:rPr sz="1000"/>
            </a:br>
            <a:br>
              <a:rPr sz="1000"/>
            </a:br>
            <a:r>
              <a:rPr sz="1000"/>
              <a:t>Lower risk of prolonged service degradation</a:t>
            </a:r>
            <a:endParaRPr sz="1000"/>
          </a:p>
        </p:txBody>
      </p:sp>
      <p:sp>
        <p:nvSpPr>
          <p:cNvPr id="11" name="Rounded Rectangle 10"/>
          <p:cNvSpPr/>
          <p:nvPr/>
        </p:nvSpPr>
        <p:spPr>
          <a:xfrm>
            <a:off x="8183879" y="1417320"/>
            <a:ext cx="3337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545336"/>
            <a:ext cx="300837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B48232"/>
                </a:solidFill>
                <a:latin typeface="Aptos"/>
              </a:rPr>
              <a:t>Scale path</a:t>
            </a:r>
            <a:endParaRPr sz="1400" b="1">
              <a:solidFill>
                <a:srgbClr val="B4823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48471" y="1929384"/>
            <a:ext cx="1617345" cy="15068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OSS/BSS integrations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 sz="1000"/>
              <a:t>Streaming telemetry</a:t>
            </a:r>
            <a:br>
              <a:rPr sz="1000"/>
            </a:br>
            <a:br>
              <a:rPr sz="1000"/>
            </a:br>
            <a:r>
              <a:rPr sz="1000"/>
              <a:t>Network controllers</a:t>
            </a:r>
            <a:br>
              <a:rPr sz="1000"/>
            </a:br>
            <a:br>
              <a:rPr sz="1000"/>
            </a:br>
            <a:r>
              <a:rPr sz="1000"/>
              <a:t>Policy + RBAC + rollback</a:t>
            </a:r>
            <a:br>
              <a:rPr sz="1000"/>
            </a:br>
            <a:br>
              <a:rPr sz="1000"/>
            </a:br>
            <a:r>
              <a:rPr sz="1000"/>
              <a:t>Cloud agent runtime</a:t>
            </a:r>
            <a:endParaRPr sz="1000"/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149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B233A"/>
                </a:solidFill>
                <a:latin typeface="Aptos"/>
              </a:rPr>
              <a:t>Measure next: MTTR, autonomous-resolution rate, first-action success rate, false remediation rate, customer-impact minutes avoided.</a:t>
            </a:r>
            <a:endParaRPr sz="15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10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0B233A"/>
                </a:solidFill>
                <a:latin typeface="Aptos"/>
              </a:rPr>
              <a:t>2-4 Minute Demo Storyboard</a:t>
            </a:r>
            <a:endParaRPr sz="2600" b="1">
              <a:solidFill>
                <a:srgbClr val="0B233A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9737D"/>
                </a:solidFill>
                <a:latin typeface="Aptos"/>
              </a:rPr>
              <a:t>Use INC-1001 for the strongest judge flow.</a:t>
            </a:r>
            <a:endParaRPr sz="12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13716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225295"/>
            <a:ext cx="10424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0:00-0:20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392" y="1572768"/>
            <a:ext cx="1042416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240280" y="1133856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08891"/>
                </a:solidFill>
                <a:latin typeface="Aptos"/>
              </a:rPr>
              <a:t>Problem</a:t>
            </a:r>
            <a:endParaRPr sz="12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77639" y="1115568"/>
            <a:ext cx="7406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>
                <a:solidFill>
                  <a:srgbClr val="27313A"/>
                </a:solidFill>
                <a:latin typeface="Aptos"/>
              </a:rPr>
              <a:t>Telecom incidents create fragmented alarms and manual coordination.</a:t>
            </a:r>
            <a:endParaRPr sz="105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5800" y="1883664"/>
            <a:ext cx="13716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11680"/>
            <a:ext cx="10424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0:20-0:45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0392" y="2359152"/>
            <a:ext cx="1042416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240280" y="1920240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08891"/>
                </a:solidFill>
                <a:latin typeface="Aptos"/>
              </a:rPr>
              <a:t>Trigger</a:t>
            </a:r>
            <a:endParaRPr sz="12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977639" y="1901952"/>
            <a:ext cx="7406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>
                <a:solidFill>
                  <a:srgbClr val="27313A"/>
                </a:solidFill>
                <a:latin typeface="Aptos"/>
              </a:rPr>
              <a:t>Select INC-1001 and show KPI anomalies.</a:t>
            </a:r>
            <a:endParaRPr sz="105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85800" y="2670048"/>
            <a:ext cx="13716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2798064"/>
            <a:ext cx="10424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0:45-1:20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50392" y="3145536"/>
            <a:ext cx="1042416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240280" y="2706624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08891"/>
                </a:solidFill>
                <a:latin typeface="Aptos"/>
              </a:rPr>
              <a:t>Reason</a:t>
            </a:r>
            <a:endParaRPr sz="12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77639" y="2688336"/>
            <a:ext cx="7406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>
                <a:solidFill>
                  <a:srgbClr val="27313A"/>
                </a:solidFill>
                <a:latin typeface="Aptos"/>
              </a:rPr>
              <a:t>Show monitoring → correlation → RCA + evidence.</a:t>
            </a:r>
            <a:endParaRPr sz="105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85800" y="3456432"/>
            <a:ext cx="13716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3584448"/>
            <a:ext cx="10424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1:20-1:55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50392" y="3931920"/>
            <a:ext cx="1042416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240280" y="3493008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08891"/>
                </a:solidFill>
                <a:latin typeface="Aptos"/>
              </a:rPr>
              <a:t>Act</a:t>
            </a:r>
            <a:endParaRPr sz="12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977639" y="3474720"/>
            <a:ext cx="7406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>
                <a:solidFill>
                  <a:srgbClr val="27313A"/>
                </a:solidFill>
                <a:latin typeface="Aptos"/>
              </a:rPr>
              <a:t>Decision Agent selects reroute; no human approval.</a:t>
            </a:r>
            <a:endParaRPr sz="105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85800" y="4242816"/>
            <a:ext cx="13716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370831"/>
            <a:ext cx="10424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1:55-2:30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50392" y="4718303"/>
            <a:ext cx="1042416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240280" y="4279392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08891"/>
                </a:solidFill>
                <a:latin typeface="Aptos"/>
              </a:rPr>
              <a:t>Validate</a:t>
            </a:r>
            <a:endParaRPr sz="12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977639" y="4261104"/>
            <a:ext cx="7406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>
                <a:solidFill>
                  <a:srgbClr val="27313A"/>
                </a:solidFill>
                <a:latin typeface="Aptos"/>
              </a:rPr>
              <a:t>Validation checks KPIs; if needed, fallback action runs.</a:t>
            </a:r>
            <a:endParaRPr sz="105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85800" y="5029200"/>
            <a:ext cx="13716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" y="5157216"/>
            <a:ext cx="104241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166AC"/>
                </a:solidFill>
                <a:latin typeface="Aptos"/>
              </a:rPr>
              <a:t>2:30-3:15</a:t>
            </a:r>
            <a:endParaRPr sz="1400" b="1">
              <a:solidFill>
                <a:srgbClr val="2166AC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0392" y="5504688"/>
            <a:ext cx="1042416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endParaRPr sz="110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240280" y="5065776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08891"/>
                </a:solidFill>
                <a:latin typeface="Aptos"/>
              </a:rPr>
              <a:t>Impact</a:t>
            </a:r>
            <a:endParaRPr sz="1200" b="1">
              <a:solidFill>
                <a:srgbClr val="008891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977639" y="5047488"/>
            <a:ext cx="7406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>
                <a:solidFill>
                  <a:srgbClr val="27313A"/>
                </a:solidFill>
                <a:latin typeface="Aptos"/>
              </a:rPr>
              <a:t>Show resolved state, audit trace and enterprise path.</a:t>
            </a:r>
            <a:endParaRPr sz="1050" b="0">
              <a:solidFill>
                <a:srgbClr val="27313A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11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Submission Package</a:t>
            </a:r>
            <a:endParaRPr sz="28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383280" cy="3383280"/>
          </a:xfrm>
          <a:prstGeom prst="roundRect">
            <a:avLst/>
          </a:prstGeom>
          <a:solidFill>
            <a:srgbClr val="16334E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45336"/>
            <a:ext cx="30540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EDCEC"/>
                </a:solidFill>
                <a:latin typeface="Aptos"/>
              </a:rPr>
              <a:t>1. Working prototype</a:t>
            </a:r>
            <a:endParaRPr sz="1400" b="1">
              <a:solidFill>
                <a:srgbClr val="AEDCEC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6112" y="1929384"/>
            <a:ext cx="3223895" cy="18148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GitHub-ready Python + Streamlit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>
                <a:solidFill>
                  <a:schemeClr val="bg1"/>
                </a:solidFill>
              </a:rPr>
              <a:t>telecom scenarios</a:t>
            </a:r>
            <a:br>
              <a:rPr>
                <a:solidFill>
                  <a:schemeClr val="bg1"/>
                </a:solidFill>
              </a:rPr>
            </a:b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Unit-tested autonomous flow</a:t>
            </a:r>
            <a:br>
              <a:rPr>
                <a:solidFill>
                  <a:schemeClr val="bg1"/>
                </a:solidFill>
              </a:rPr>
            </a:b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README + demo instructions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3383280"/>
          </a:xfrm>
          <a:prstGeom prst="roundRect">
            <a:avLst/>
          </a:prstGeom>
          <a:solidFill>
            <a:srgbClr val="16334E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545336"/>
            <a:ext cx="30540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EDCEC"/>
                </a:solidFill>
                <a:latin typeface="Aptos"/>
              </a:rPr>
              <a:t>2. Pitch deck</a:t>
            </a:r>
            <a:endParaRPr sz="1400" b="1">
              <a:solidFill>
                <a:srgbClr val="AEDCEC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471797" y="1929384"/>
            <a:ext cx="3054096" cy="2761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This deck in PowerPoint and PDF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>
                <a:solidFill>
                  <a:schemeClr val="bg1"/>
                </a:solidFill>
              </a:rPr>
              <a:t>Architecture</a:t>
            </a:r>
            <a:br>
              <a:rPr>
                <a:solidFill>
                  <a:schemeClr val="bg1"/>
                </a:solidFill>
              </a:rPr>
            </a:b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Innovation + impact</a:t>
            </a:r>
            <a:br>
              <a:rPr>
                <a:solidFill>
                  <a:schemeClr val="bg1"/>
                </a:solidFill>
              </a:rPr>
            </a:b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Evaluation alignment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46720" y="1417320"/>
            <a:ext cx="3383280" cy="3383280"/>
          </a:xfrm>
          <a:prstGeom prst="roundRect">
            <a:avLst/>
          </a:prstGeom>
          <a:solidFill>
            <a:srgbClr val="16334E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545336"/>
            <a:ext cx="305409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EDCEC"/>
                </a:solidFill>
                <a:latin typeface="Aptos"/>
              </a:rPr>
              <a:t>3. Demo video</a:t>
            </a:r>
            <a:endParaRPr sz="1400" b="1">
              <a:solidFill>
                <a:srgbClr val="AEDCEC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11185" y="2245360"/>
            <a:ext cx="3054350" cy="244538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100" b="0">
                <a:solidFill>
                  <a:srgbClr val="27313A"/>
                </a:solidFill>
                <a:latin typeface="Aptos"/>
              </a:rPr>
              <a:t>Record the Streamlit UI</a:t>
            </a:r>
            <a:br>
              <a:rPr sz="1100" b="0">
                <a:solidFill>
                  <a:srgbClr val="27313A"/>
                </a:solidFill>
                <a:latin typeface="Aptos"/>
              </a:rPr>
            </a:br>
            <a:br>
              <a:rPr sz="1100" b="0">
                <a:solidFill>
                  <a:srgbClr val="27313A"/>
                </a:solidFill>
                <a:latin typeface="Aptos"/>
              </a:rPr>
            </a:br>
            <a:r>
              <a:rPr>
                <a:solidFill>
                  <a:schemeClr val="bg1"/>
                </a:solidFill>
              </a:rPr>
              <a:t>Use supplied 2-4 minute script</a:t>
            </a:r>
            <a:br>
              <a:rPr>
                <a:solidFill>
                  <a:schemeClr val="bg1"/>
                </a:solidFill>
              </a:rPr>
            </a:b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Show INC-1001 end-to-end</a:t>
            </a:r>
            <a:br>
              <a:rPr>
                <a:solidFill>
                  <a:schemeClr val="bg1"/>
                </a:solidFill>
              </a:rPr>
            </a:b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Keep the agent trace visible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53035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chemeClr val="bg1"/>
                </a:solidFill>
                <a:latin typeface="Aptos"/>
              </a:rPr>
              <a:t>Target repository:</a:t>
            </a:r>
            <a:br>
              <a:rPr sz="1300" b="0">
                <a:solidFill>
                  <a:schemeClr val="bg1"/>
                </a:solidFill>
                <a:latin typeface="Aptos"/>
              </a:rPr>
            </a:br>
            <a:r>
              <a:rPr>
                <a:solidFill>
                  <a:schemeClr val="bg1"/>
                </a:solidFill>
              </a:rPr>
              <a:t>github.com/garv4179/Agentic-Ai-telecom-domain-ET-AI-Hackathon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7D"/>
                </a:solidFill>
                <a:latin typeface="Aptos"/>
              </a:rPr>
              <a:t>TELCO AUTONOMOUS RESOLVE-X | ET AI Hackathon Agentic Edition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1852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69737D"/>
                </a:solidFill>
                <a:latin typeface="Aptos"/>
              </a:rPr>
              <a:t>12</a:t>
            </a:r>
            <a:endParaRPr sz="800" b="0">
              <a:solidFill>
                <a:srgbClr val="69737D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6492</Words>
  <Application>WPS Docs</Application>
  <PresentationFormat>On-screen Show (4:3)</PresentationFormat>
  <Paragraphs>360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4" baseType="lpstr">
      <vt:lpstr>Arial</vt:lpstr>
      <vt:lpstr>SimSun</vt:lpstr>
      <vt:lpstr>Wingdings</vt:lpstr>
      <vt:lpstr>Arial</vt:lpstr>
      <vt:lpstr>Aptos</vt:lpstr>
      <vt:lpstr>Helvetica Neue</vt:lpstr>
      <vt:lpstr>Calibri</vt:lpstr>
      <vt:lpstr>Microsoft YaHei</vt:lpstr>
      <vt:lpstr>汉仪旗黑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garv ahuja</cp:lastModifiedBy>
  <cp:revision>14</cp:revision>
  <dcterms:created xsi:type="dcterms:W3CDTF">2026-10-04T09:34:03Z</dcterms:created>
  <dcterms:modified xsi:type="dcterms:W3CDTF">2026-10-04T09:34:03Z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DB30EA608E4D026EBF1CC26A15DAFC59_42</vt:lpwstr>
  </property>
  <property fmtid="{D5CDD505-2E9C-101B-9397-08002B2CF9AE}" pid="3" name="KSOProductBuildVer">
    <vt:lpwstr>1033-12.1.28496.28496</vt:lpwstr>
  </property>
</Properties>
</file>