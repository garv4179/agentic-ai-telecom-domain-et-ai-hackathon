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TELCO AUTONOMOUS RESOLVE-X</a:t>
            </a:r>
            <a:endParaRPr sz="3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096" y="19385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B7DCED"/>
                </a:solidFill>
                <a:latin typeface="Aptos"/>
              </a:rPr>
              <a:t>Autonomous Closed-Loop Telecom Operations Agent</a:t>
            </a:r>
            <a:endParaRPr sz="2000" b="0">
              <a:solidFill>
                <a:srgbClr val="B7DCE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6" y="278892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Detect → Correlate → Reason → Plan → Act → Validate → Re-plan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50749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D2E1EB"/>
                </a:solidFill>
                <a:latin typeface="Aptos"/>
              </a:rPr>
              <a:t>Multi-agent AI prototype for autonomous telecom incident resolution</a:t>
            </a:r>
            <a:br>
              <a:rPr sz="1300" b="0">
                <a:solidFill>
                  <a:srgbClr val="D2E1EB"/>
                </a:solidFill>
                <a:latin typeface="Aptos"/>
              </a:rPr>
            </a:br>
            <a:r>
              <a:t>Target: reduce manual triage and accelerate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1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The Problem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Telecom incidents are detected by many signals but still require fragmented human coordination.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45336"/>
            <a:ext cx="2414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1. Signal overload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1477" y="1929384"/>
            <a:ext cx="2573020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7313A"/>
                </a:solidFill>
                <a:latin typeface="Aptos"/>
              </a:rPr>
              <a:t>Alarms, KPIs, service logs and symptoms </a:t>
            </a:r>
            <a:br>
              <a:rPr sz="1000" b="0">
                <a:solidFill>
                  <a:srgbClr val="27313A"/>
                </a:solidFill>
                <a:latin typeface="Aptos"/>
              </a:rPr>
            </a:br>
            <a:r>
              <a:rPr sz="1000" b="0">
                <a:solidFill>
                  <a:srgbClr val="27313A"/>
                </a:solidFill>
                <a:latin typeface="Aptos"/>
              </a:rPr>
              <a:t>arrive from</a:t>
            </a:r>
            <a:r>
              <a:rPr sz="1100" b="0">
                <a:solidFill>
                  <a:srgbClr val="27313A"/>
                </a:solidFill>
                <a:latin typeface="Aptos"/>
              </a:rPr>
              <a:t> different systems.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545336"/>
            <a:ext cx="2414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2. Slow diagnosis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5032" y="1929384"/>
            <a:ext cx="2104390" cy="598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Engineers correlate symptoms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100" b="0">
                <a:solidFill>
                  <a:srgbClr val="27313A"/>
                </a:solidFill>
                <a:latin typeface="Aptos"/>
              </a:rPr>
              <a:t>identify root cause and search 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100" b="0">
                <a:solidFill>
                  <a:srgbClr val="27313A"/>
                </a:solidFill>
                <a:latin typeface="Aptos"/>
              </a:rPr>
              <a:t>runbooks manually.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2423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545336"/>
            <a:ext cx="2093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3. Manual action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1112" y="1929384"/>
            <a:ext cx="1906270" cy="598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Remediation often requires 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100" b="0">
                <a:solidFill>
                  <a:srgbClr val="27313A"/>
                </a:solidFill>
                <a:latin typeface="Aptos"/>
              </a:rPr>
              <a:t>hand-offs across network 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100" b="0">
                <a:solidFill>
                  <a:srgbClr val="27313A"/>
                </a:solidFill>
                <a:latin typeface="Aptos"/>
              </a:rPr>
              <a:t>and service teams.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5256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1545336"/>
            <a:ext cx="2185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4. Weak feedback loop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17152" y="1929384"/>
            <a:ext cx="1829435" cy="598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Recovery is not always 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100" b="0">
                <a:solidFill>
                  <a:srgbClr val="27313A"/>
                </a:solidFill>
                <a:latin typeface="Aptos"/>
              </a:rPr>
              <a:t>automatically re-validated 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100" b="0">
                <a:solidFill>
                  <a:srgbClr val="27313A"/>
                </a:solidFill>
                <a:latin typeface="Aptos"/>
              </a:rPr>
              <a:t>after the first action.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1805" y="3977639"/>
            <a:ext cx="1112647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233A"/>
                </a:solidFill>
                <a:latin typeface="Aptos"/>
              </a:rPr>
              <a:t>Resolve-X turns the incident lifecycle into an autonomous decision loop with evidence, action tools, validation and audit memory.</a:t>
            </a:r>
            <a:endParaRPr sz="14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2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Our Solution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An agentic telecom operations system that works toward an outcome, not just an answer.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Observe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Telemetry + events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57400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2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Understand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21992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Correlate signals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03320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8232"/>
                </a:solidFill>
                <a:latin typeface="Aptos"/>
              </a:rPr>
              <a:t>Reason</a:t>
            </a:r>
            <a:endParaRPr sz="1400" b="1">
              <a:solidFill>
                <a:srgbClr val="B482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67911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RCA + knowledge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49240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1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Decide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13831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Choose playbook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995159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1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D3838"/>
                </a:solidFill>
                <a:latin typeface="Aptos"/>
              </a:rPr>
              <a:t>Act</a:t>
            </a:r>
            <a:endParaRPr sz="1400" b="1">
              <a:solidFill>
                <a:srgbClr val="AD383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59751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Execute tool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41080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Verify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05672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Check KPIs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287000" y="146304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51592" y="1591056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Adapt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51592" y="1975104"/>
            <a:ext cx="117957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Re-plan if needed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9615" y="3977639"/>
            <a:ext cx="106108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233A"/>
                </a:solidFill>
                <a:latin typeface="Aptos"/>
              </a:rPr>
              <a:t>Key differentiator: the system can continue operating after the first action. Validation feeds the next decision automatically.</a:t>
            </a:r>
            <a:endParaRPr sz="14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3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Multi-Agent Collaboration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Specialized agents each own a distinct decision responsibility.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53895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Signal Monitoring Agent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837943"/>
            <a:ext cx="4745736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Detect anomaly and establish incident state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53895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Incident Correlation Agent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2512" y="1837943"/>
            <a:ext cx="4745736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Join KPI symptoms into one failure pattern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39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62656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8232"/>
                </a:solidFill>
                <a:latin typeface="Aptos"/>
              </a:rPr>
              <a:t>RCA + Knowledge Agent</a:t>
            </a:r>
            <a:endParaRPr sz="1400" b="1">
              <a:solidFill>
                <a:srgbClr val="B482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" y="3346703"/>
            <a:ext cx="4745736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Infer root cause and retrieve supporting evidence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39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962656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Customer Impact Agent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2512" y="3346703"/>
            <a:ext cx="4745736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Estimate users / sessions at risk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71416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Autonomous Decision Agent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4855464"/>
            <a:ext cx="4745736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Select next action from approved playbooks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34340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471416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D3838"/>
                </a:solidFill>
                <a:latin typeface="Aptos"/>
              </a:rPr>
              <a:t>Recovery Validation Agent</a:t>
            </a:r>
            <a:endParaRPr sz="1400" b="1">
              <a:solidFill>
                <a:srgbClr val="AD383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2512" y="4855464"/>
            <a:ext cx="4745736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Verify KPI recovery and trigger re-plan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598932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233A"/>
                </a:solidFill>
                <a:latin typeface="Aptos"/>
              </a:rPr>
              <a:t>Shared state + audit trace connect all agents through the orchestrator.</a:t>
            </a:r>
            <a:endParaRPr sz="14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4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Technical Architecture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Closed-loop orchestration with a governed action layer.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2609850"/>
            <a:ext cx="11945620" cy="21958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5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Working Prototype - Four Telecom Scenarios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The simulator provides repeatable incidents so judges can observe autonomous actions and validation.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62456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INC-1001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1746504"/>
            <a:ext cx="1499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Backhaul congestion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0" y="123444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362456"/>
            <a:ext cx="616305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Autonomous flow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24912" y="1746504"/>
            <a:ext cx="6163055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Reroute → validate → fallback recovery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235440" y="12344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362456"/>
            <a:ext cx="2002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Outcome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00032" y="1746504"/>
            <a:ext cx="200253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RESOLVED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2441448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569464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INC-1002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" y="2953512"/>
            <a:ext cx="1499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Packet-core saturation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0320" y="2441448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2569464"/>
            <a:ext cx="616305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Autonomous flow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24912" y="2953512"/>
            <a:ext cx="6163055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Scale capacity → validate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35440" y="2441448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2569464"/>
            <a:ext cx="2002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Outcome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00032" y="2953512"/>
            <a:ext cx="200253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RESOLVED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3648456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776472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INC-1003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952" y="4160520"/>
            <a:ext cx="1499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OTP gateway instability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560320" y="3648456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3776472"/>
            <a:ext cx="616305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Autonomous flow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24912" y="4160520"/>
            <a:ext cx="6163055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Restart gateway → validate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235440" y="3648456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3776472"/>
            <a:ext cx="2002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Outcome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00032" y="4160520"/>
            <a:ext cx="200253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RESOLVED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4360" y="4855464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98348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INC-1004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8952" y="5367528"/>
            <a:ext cx="1499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Cell overload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560320" y="4855464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4912" y="4983480"/>
            <a:ext cx="616305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Autonomous flow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24912" y="5367528"/>
            <a:ext cx="6163055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Rebalance load → validate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235440" y="4855464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4983480"/>
            <a:ext cx="2002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Outcome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00032" y="5367528"/>
            <a:ext cx="200253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RESOLVED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520" y="61447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88048"/>
                </a:solidFill>
                <a:latin typeface="Aptos"/>
              </a:rPr>
              <a:t>Smoke-tested locally: all four scenarios reached RESOLVED in the simulator.</a:t>
            </a:r>
            <a:endParaRPr sz="13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6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Autonomy Without Human Intervention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Autonomy is constrained by explicit action guardrails rather than an unrestricted agent.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Autonomous decisions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883664"/>
            <a:ext cx="2840355" cy="845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• Choose remediation from an allow-list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t>• </a:t>
            </a:r>
            <a:r>
              <a:rPr sz="1000"/>
              <a:t>Execute the next action when validation fails</a:t>
            </a:r>
            <a:br>
              <a:rPr sz="1000"/>
            </a:br>
            <a:r>
              <a:rPr sz="1000"/>
              <a:t>• Maintain incident state</a:t>
            </a:r>
            <a:br>
              <a:rPr sz="1000"/>
            </a:br>
            <a:r>
              <a:rPr sz="1000"/>
              <a:t>• Close only after KPI checks pass</a:t>
            </a:r>
            <a:endParaRPr sz="1000"/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499616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D3838"/>
                </a:solidFill>
                <a:latin typeface="Aptos"/>
              </a:rPr>
              <a:t>Safety guardrails</a:t>
            </a:r>
            <a:endParaRPr sz="1400" b="1">
              <a:solidFill>
                <a:srgbClr val="AD383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5152" y="1883664"/>
            <a:ext cx="2213610" cy="998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• Approved playbook only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t>• </a:t>
            </a:r>
            <a:r>
              <a:rPr sz="1000"/>
              <a:t>No production credentials</a:t>
            </a:r>
            <a:br>
              <a:rPr sz="1000"/>
            </a:br>
            <a:r>
              <a:rPr sz="1000"/>
              <a:t>• Simulator tools in prototype</a:t>
            </a:r>
            <a:br>
              <a:rPr sz="1000"/>
            </a:br>
            <a:r>
              <a:rPr sz="1000"/>
              <a:t>• Deterministic validation thresholds</a:t>
            </a:r>
            <a:br>
              <a:rPr sz="1000"/>
            </a:br>
            <a:r>
              <a:rPr sz="1000"/>
              <a:t>• Full audit trail</a:t>
            </a:r>
            <a:endParaRPr sz="1000"/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471545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499616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8232"/>
                </a:solidFill>
                <a:latin typeface="Aptos"/>
              </a:rPr>
              <a:t>Production path</a:t>
            </a:r>
            <a:endParaRPr sz="1400" b="1">
              <a:solidFill>
                <a:srgbClr val="B482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85632" y="1883664"/>
            <a:ext cx="3322320" cy="845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• Replace simulator with governed OSS/BSS APIs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t>•</a:t>
            </a:r>
            <a:r>
              <a:rPr sz="1000"/>
              <a:t> Add policy engine + RBAC</a:t>
            </a:r>
            <a:br>
              <a:rPr sz="1000"/>
            </a:br>
            <a:r>
              <a:rPr sz="1000"/>
              <a:t>• Add observability and rollback</a:t>
            </a:r>
            <a:br>
              <a:rPr sz="1000"/>
            </a:br>
            <a:r>
              <a:rPr sz="1000"/>
              <a:t>• Route high-risk actions to enterprise approval policies</a:t>
            </a:r>
            <a:endParaRPr sz="1000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Hackathon demo: zero human intervention in the simulated recovery loop.</a:t>
            </a:r>
            <a:endParaRPr sz="1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7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Hackathon Evaluation Alignment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The attached ET AI guidance emphasises AI effectiveness, agentic capability, technical execution, impact, prototype quality and responsible AI.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25295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Significance &amp; relevance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" y="1609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Telecom operations / customer-impact problem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225295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Innovation &amp; originality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6792" y="1609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Closed-loop multi-agent self-healing workflow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240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368296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8232"/>
                </a:solidFill>
                <a:latin typeface="Aptos"/>
              </a:rPr>
              <a:t>Effective use of AI</a:t>
            </a:r>
            <a:endParaRPr sz="1400" b="1">
              <a:solidFill>
                <a:srgbClr val="B482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2752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RCA reasoning + evidence retrieval + agent planning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2240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368296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Technical complexity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6792" y="2752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Stateful orchestration, tools, validation and re-planning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511296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Agentic autonomy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" y="3895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Reason → plan → act → recover from failure → close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200" y="3383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511296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D3838"/>
                </a:solidFill>
                <a:latin typeface="Aptos"/>
              </a:rPr>
              <a:t>Business impact</a:t>
            </a:r>
            <a:endParaRPr sz="1400" b="1">
              <a:solidFill>
                <a:srgbClr val="AD383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3895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MTTR reduction potential and fewer manual hand-offs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654296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Prototype quality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7512" y="5038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Interactive UI + 4 deterministic demo scenarios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80"/>
            <a:ext cx="5440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654296"/>
            <a:ext cx="5111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233A"/>
                </a:solidFill>
                <a:latin typeface="Aptos"/>
              </a:rPr>
              <a:t>Responsible AI</a:t>
            </a:r>
            <a:endParaRPr sz="14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36792" y="5038344"/>
            <a:ext cx="51114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Allow-listed tools, audit trail, no production access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9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Prototype Stack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Designed for a fast, reproducible hackathon build.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6245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UI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174650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Streamlit dashboard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36245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Orchestration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2512" y="174650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Python agent coordinator + shared state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5117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8232"/>
                </a:solidFill>
                <a:latin typeface="Aptos"/>
              </a:rPr>
              <a:t>Knowledge</a:t>
            </a:r>
            <a:endParaRPr sz="1400" b="1">
              <a:solidFill>
                <a:srgbClr val="B482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93522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Local telecom knowledge base + evidence retrieval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55117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AI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2512" y="293522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Optional OpenAI model for narrative summarisation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3989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8048"/>
                </a:solidFill>
                <a:latin typeface="Aptos"/>
              </a:rPr>
              <a:t>Tools</a:t>
            </a:r>
            <a:endParaRPr sz="1400" b="1">
              <a:solidFill>
                <a:srgbClr val="38804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412394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Simulated remediation APIs / action playbooks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361188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73989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Memory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2512" y="412394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JSON incident audit memory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480060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928616"/>
            <a:ext cx="4700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D3838"/>
                </a:solidFill>
                <a:latin typeface="Aptos"/>
              </a:rPr>
              <a:t>Deployment</a:t>
            </a:r>
            <a:endParaRPr sz="1400" b="1">
              <a:solidFill>
                <a:srgbClr val="AD3838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112" y="5312664"/>
            <a:ext cx="47000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Local / container-ready pattern</a:t>
            </a:r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8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33A"/>
                </a:solidFill>
                <a:latin typeface="Aptos"/>
              </a:rPr>
              <a:t>Business Impact &amp; Enterprise Potential</a:t>
            </a:r>
            <a:endParaRPr sz="26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737D"/>
                </a:solidFill>
                <a:latin typeface="Aptos"/>
              </a:rPr>
              <a:t>From incident detection to autonomous recovery in one operational loop.</a:t>
            </a:r>
            <a:endParaRPr sz="12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08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8891"/>
                </a:solidFill>
                <a:latin typeface="Aptos"/>
              </a:rPr>
              <a:t>Operational value</a:t>
            </a:r>
            <a:endParaRPr sz="14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929384"/>
            <a:ext cx="3152140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Reduce manual triage and cross-team handoffs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000"/>
              <a:t>Accelerate time from detection to corrective action</a:t>
            </a:r>
            <a:br>
              <a:rPr sz="1000"/>
            </a:br>
            <a:br>
              <a:rPr sz="1000"/>
            </a:br>
            <a:r>
              <a:rPr sz="1000"/>
              <a:t>Create a consistent, auditable recovery process</a:t>
            </a:r>
            <a:endParaRPr sz="1000"/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545336"/>
            <a:ext cx="3008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Customer value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9431" y="1929384"/>
            <a:ext cx="268414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Faster restoration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000"/>
              <a:t>Proactive customer communication</a:t>
            </a:r>
            <a:br>
              <a:rPr sz="1000"/>
            </a:br>
            <a:br>
              <a:rPr sz="1000"/>
            </a:br>
            <a:r>
              <a:rPr sz="1000"/>
              <a:t>Lower risk of prolonged service degradation</a:t>
            </a:r>
            <a:endParaRPr sz="1000"/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545336"/>
            <a:ext cx="3008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8232"/>
                </a:solidFill>
                <a:latin typeface="Aptos"/>
              </a:rPr>
              <a:t>Scale path</a:t>
            </a:r>
            <a:endParaRPr sz="1400" b="1">
              <a:solidFill>
                <a:srgbClr val="B482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48471" y="1929384"/>
            <a:ext cx="1617345" cy="1506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OSS/BSS integrations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 sz="1000"/>
              <a:t>Streaming telemetry</a:t>
            </a:r>
            <a:br>
              <a:rPr sz="1000"/>
            </a:br>
            <a:br>
              <a:rPr sz="1000"/>
            </a:br>
            <a:r>
              <a:rPr sz="1000"/>
              <a:t>Network controllers</a:t>
            </a:r>
            <a:br>
              <a:rPr sz="1000"/>
            </a:br>
            <a:br>
              <a:rPr sz="1000"/>
            </a:br>
            <a:r>
              <a:rPr sz="1000"/>
              <a:t>Policy + RBAC + rollback</a:t>
            </a:r>
            <a:br>
              <a:rPr sz="1000"/>
            </a:br>
            <a:br>
              <a:rPr sz="1000"/>
            </a:br>
            <a:r>
              <a:rPr sz="1000"/>
              <a:t>Cloud agent runtime</a:t>
            </a:r>
            <a:endParaRPr sz="1000"/>
          </a:p>
        </p:txBody>
      </p:sp>
      <p:sp>
        <p:nvSpPr>
          <p:cNvPr id="14" name="TextBox 13"/>
          <p:cNvSpPr txBox="1"/>
          <p:nvPr/>
        </p:nvSpPr>
        <p:spPr>
          <a:xfrm>
            <a:off x="1102995" y="5074920"/>
            <a:ext cx="995553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233A"/>
                </a:solidFill>
                <a:latin typeface="Aptos"/>
              </a:rPr>
              <a:t>Measure next: MTTR, autonomous-resolution rate, first-action success rate, false remediation rate, customer-impact minutes avoided.</a:t>
            </a:r>
            <a:endParaRPr sz="1200" b="1">
              <a:solidFill>
                <a:srgbClr val="0B233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10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081145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2-4 Minute Demo Storyboard</a:t>
            </a:r>
            <a:br>
              <a:rPr sz="1600" b="1">
                <a:solidFill>
                  <a:srgbClr val="0B233A"/>
                </a:solidFill>
                <a:latin typeface="Aptos"/>
              </a:rPr>
            </a:br>
            <a:r>
              <a:rPr sz="1600">
                <a:solidFill>
                  <a:srgbClr val="69737D"/>
                </a:solidFill>
                <a:latin typeface="Aptos"/>
                <a:sym typeface="+mn-ea"/>
              </a:rPr>
              <a:t>Use INC-1001 for the strongest judge flow.</a:t>
            </a:r>
            <a:br>
              <a:rPr sz="1600">
                <a:solidFill>
                  <a:srgbClr val="69737D"/>
                </a:solidFill>
                <a:latin typeface="Aptos"/>
                <a:sym typeface="+mn-ea"/>
              </a:rPr>
            </a:br>
            <a:br>
              <a:rPr sz="1600">
                <a:solidFill>
                  <a:srgbClr val="69737D"/>
                </a:solidFill>
                <a:latin typeface="Aptos"/>
                <a:sym typeface="+mn-ea"/>
              </a:rPr>
            </a:br>
            <a:endParaRPr sz="1600" b="1">
              <a:solidFill>
                <a:srgbClr val="69737D"/>
              </a:solidFill>
              <a:latin typeface="Aptos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78065" y="1270635"/>
            <a:ext cx="4495165" cy="16249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lang="en-US" altLang="en-US" sz="1000" b="0">
                <a:solidFill>
                  <a:srgbClr val="FF0000"/>
                </a:solidFill>
                <a:latin typeface="Aptos"/>
              </a:rPr>
              <a:t>INC-1001 — Backhaul congestion → reroute → validation → fallback recovery</a:t>
            </a:r>
            <a:endParaRPr lang="en-US" altLang="en-US" sz="1000" b="0">
              <a:solidFill>
                <a:srgbClr val="FF0000"/>
              </a:solidFill>
              <a:latin typeface="Aptos"/>
            </a:endParaRPr>
          </a:p>
          <a:p>
            <a:pPr algn="l"/>
            <a:endParaRPr lang="en-US" altLang="en-US" sz="1000" b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altLang="en-US" sz="1000" b="0">
                <a:solidFill>
                  <a:srgbClr val="FF0000"/>
                </a:solidFill>
                <a:latin typeface="Aptos"/>
              </a:rPr>
              <a:t>INC-1002 — Packet-core saturation → autonomous scaling → validation</a:t>
            </a:r>
            <a:endParaRPr lang="en-US" altLang="en-US" sz="1000" b="0">
              <a:solidFill>
                <a:srgbClr val="FF0000"/>
              </a:solidFill>
              <a:latin typeface="Aptos"/>
            </a:endParaRPr>
          </a:p>
          <a:p>
            <a:pPr algn="l"/>
            <a:endParaRPr lang="en-US" altLang="en-US" sz="1000" b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altLang="en-US" sz="1000" b="0">
                <a:solidFill>
                  <a:srgbClr val="FF0000"/>
                </a:solidFill>
                <a:latin typeface="Aptos"/>
              </a:rPr>
              <a:t>INC-1003 — OTP gateway instability → gateway restart → validation</a:t>
            </a:r>
            <a:endParaRPr lang="en-US" altLang="en-US" sz="1000" b="0">
              <a:solidFill>
                <a:srgbClr val="FF0000"/>
              </a:solidFill>
              <a:latin typeface="Aptos"/>
            </a:endParaRPr>
          </a:p>
          <a:p>
            <a:pPr algn="l"/>
            <a:endParaRPr lang="en-US" altLang="en-US" sz="1000" b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altLang="en-US" sz="1000" b="0">
                <a:solidFill>
                  <a:srgbClr val="FF0000"/>
                </a:solidFill>
                <a:latin typeface="Aptos"/>
              </a:rPr>
              <a:t>INC-1004 — Cell overload → traffic rebalance → validation</a:t>
            </a:r>
            <a:endParaRPr lang="en-US" altLang="en-US" sz="1000" b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3716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25295"/>
            <a:ext cx="1042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0:00-0:20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572768"/>
            <a:ext cx="1042416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0280" y="1133856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8891"/>
                </a:solidFill>
                <a:latin typeface="Aptos"/>
              </a:rPr>
              <a:t>Problem</a:t>
            </a:r>
            <a:endParaRPr sz="12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65805" y="1136015"/>
            <a:ext cx="4338955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313A"/>
                </a:solidFill>
                <a:latin typeface="Aptos"/>
              </a:rPr>
              <a:t>Telecom incidents create fragmented alarms and manual coordination.</a:t>
            </a:r>
            <a:endParaRPr sz="105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1883664"/>
            <a:ext cx="13716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011680"/>
            <a:ext cx="1042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0:20-0:45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2359152"/>
            <a:ext cx="1042416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0280" y="192024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8891"/>
                </a:solidFill>
                <a:latin typeface="Aptos"/>
              </a:rPr>
              <a:t>Trigger</a:t>
            </a:r>
            <a:endParaRPr sz="12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39" y="1901952"/>
            <a:ext cx="7406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7313A"/>
                </a:solidFill>
                <a:latin typeface="Aptos"/>
              </a:rPr>
              <a:t>Select INC-1001 and show KPI anomalies.</a:t>
            </a:r>
            <a:endParaRPr sz="105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2670048"/>
            <a:ext cx="13716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798064"/>
            <a:ext cx="1042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0:45-1:20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" y="3145536"/>
            <a:ext cx="1042416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40280" y="2706624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8891"/>
                </a:solidFill>
                <a:latin typeface="Aptos"/>
              </a:rPr>
              <a:t>Reason</a:t>
            </a:r>
            <a:endParaRPr sz="12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77639" y="2688336"/>
            <a:ext cx="7406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7313A"/>
                </a:solidFill>
                <a:latin typeface="Aptos"/>
              </a:rPr>
              <a:t>Show monitoring → correlation → RCA + evidence.</a:t>
            </a:r>
            <a:endParaRPr sz="105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456432"/>
            <a:ext cx="13716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584448"/>
            <a:ext cx="1042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1:20-1:55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" y="3931920"/>
            <a:ext cx="1042416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40280" y="349300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8891"/>
                </a:solidFill>
                <a:latin typeface="Aptos"/>
              </a:rPr>
              <a:t>Act</a:t>
            </a:r>
            <a:endParaRPr sz="12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77639" y="3474720"/>
            <a:ext cx="7406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7313A"/>
                </a:solidFill>
                <a:latin typeface="Aptos"/>
              </a:rPr>
              <a:t>Decision Agent selects reroute; no human approval.</a:t>
            </a:r>
            <a:endParaRPr sz="105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800" y="4242816"/>
            <a:ext cx="13716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370831"/>
            <a:ext cx="1042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1:55-2:30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0392" y="4718303"/>
            <a:ext cx="1042416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40280" y="427939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8891"/>
                </a:solidFill>
                <a:latin typeface="Aptos"/>
              </a:rPr>
              <a:t>Validate</a:t>
            </a:r>
            <a:endParaRPr sz="12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77639" y="4261104"/>
            <a:ext cx="7406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7313A"/>
                </a:solidFill>
                <a:latin typeface="Aptos"/>
              </a:rPr>
              <a:t>Validation checks KPIs; if needed, fallback action runs.</a:t>
            </a:r>
            <a:endParaRPr sz="105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" y="5029200"/>
            <a:ext cx="13716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157216"/>
            <a:ext cx="1042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ptos"/>
              </a:rPr>
              <a:t>2:30-3:15</a:t>
            </a:r>
            <a:endParaRPr sz="1400" b="1">
              <a:solidFill>
                <a:srgbClr val="2166A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0392" y="5504688"/>
            <a:ext cx="1042416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110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40280" y="5065776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8891"/>
                </a:solidFill>
                <a:latin typeface="Aptos"/>
              </a:rPr>
              <a:t>Impact</a:t>
            </a:r>
            <a:endParaRPr sz="1200" b="1">
              <a:solidFill>
                <a:srgbClr val="008891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77639" y="5047488"/>
            <a:ext cx="7406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7313A"/>
                </a:solidFill>
                <a:latin typeface="Aptos"/>
              </a:rPr>
              <a:t>Show resolved state, audit trace and enterprise path.</a:t>
            </a:r>
            <a:endParaRPr sz="1050" b="0">
              <a:solidFill>
                <a:srgbClr val="27313A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11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Submission Package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3383280"/>
          </a:xfrm>
          <a:prstGeom prst="roundRect">
            <a:avLst/>
          </a:prstGeom>
          <a:solidFill>
            <a:srgbClr val="16334E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45336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EDCEC"/>
                </a:solidFill>
                <a:latin typeface="Aptos"/>
              </a:rPr>
              <a:t>1. Working prototype</a:t>
            </a:r>
            <a:endParaRPr sz="1400" b="1">
              <a:solidFill>
                <a:srgbClr val="AEDCE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929384"/>
            <a:ext cx="3223895" cy="181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GitHub-ready Python + Streamlit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telecom scenarios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Unit-tested autonomous flow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README + demo instructions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3383280"/>
          </a:xfrm>
          <a:prstGeom prst="roundRect">
            <a:avLst/>
          </a:prstGeom>
          <a:solidFill>
            <a:srgbClr val="16334E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45336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EDCEC"/>
                </a:solidFill>
                <a:latin typeface="Aptos"/>
              </a:rPr>
              <a:t>2. Pitch deck</a:t>
            </a:r>
            <a:endParaRPr sz="1400" b="1">
              <a:solidFill>
                <a:srgbClr val="AEDCE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1797" y="1929384"/>
            <a:ext cx="30540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This deck in PowerPoint and PDF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Architecture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Innovation + impact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Evaluation alignment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3383280"/>
          </a:xfrm>
          <a:prstGeom prst="roundRect">
            <a:avLst/>
          </a:prstGeom>
          <a:solidFill>
            <a:srgbClr val="16334E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45336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EDCEC"/>
                </a:solidFill>
                <a:latin typeface="Aptos"/>
              </a:rPr>
              <a:t>3. Demo video</a:t>
            </a:r>
            <a:endParaRPr sz="1400" b="1">
              <a:solidFill>
                <a:srgbClr val="AEDCE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1185" y="2245360"/>
            <a:ext cx="3054350" cy="24453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100" b="0">
                <a:solidFill>
                  <a:srgbClr val="27313A"/>
                </a:solidFill>
                <a:latin typeface="Aptos"/>
              </a:rPr>
              <a:t>Record the Streamlit UI</a:t>
            </a:r>
            <a:br>
              <a:rPr sz="1100" b="0">
                <a:solidFill>
                  <a:srgbClr val="27313A"/>
                </a:solidFill>
                <a:latin typeface="Aptos"/>
              </a:rPr>
            </a:br>
            <a:br>
              <a:rPr sz="1100" b="0">
                <a:solidFill>
                  <a:srgbClr val="27313A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Use supplied 2-4 minute script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Show INC-1001 end-to-end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Keep the agent trace visible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chemeClr val="bg1"/>
                </a:solidFill>
                <a:latin typeface="Aptos"/>
              </a:rPr>
              <a:t>Target repository:</a:t>
            </a:r>
            <a:br>
              <a:rPr sz="1300" b="0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github.com/garv4179/Agentic-Ai-telecom-domain-ET-AI-Hackathon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TELCO AUTONOMOUS RESOLVE-X | ET AI Hackathon Agentic Edition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37D"/>
                </a:solidFill>
                <a:latin typeface="Aptos"/>
              </a:rPr>
              <a:t>12</a:t>
            </a:r>
            <a:endParaRPr sz="800" b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6757</Words>
  <Application>WPS Docs</Application>
  <PresentationFormat>On-screen Show (4:3)</PresentationFormat>
  <Paragraphs>366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Helvetica Neue</vt:lpstr>
      <vt:lpstr>Calibri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garv ahuja</cp:lastModifiedBy>
  <cp:revision>19</cp:revision>
  <dcterms:created xsi:type="dcterms:W3CDTF">2026-10-04T09:40:52Z</dcterms:created>
  <dcterms:modified xsi:type="dcterms:W3CDTF">2026-10-04T09:40:52Z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DB30EA608E4D026EBF1CC26A15DAFC59_42</vt:lpwstr>
  </property>
  <property fmtid="{D5CDD505-2E9C-101B-9397-08002B2CF9AE}" pid="3" name="KSOProductBuildVer">
    <vt:lpwstr>1033-12.1.28496.28496</vt:lpwstr>
  </property>
</Properties>
</file>